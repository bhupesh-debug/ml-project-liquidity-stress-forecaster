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Liquidity Stress Forecaster</a:t>
            </a:r>
          </a:p>
          <a:p>
            <a:pPr>
              <a:spcBef>
                <a:spcPts val="2400"/>
              </a:spcBef>
              <a:defRPr sz="2000">
                <a:solidFill>
                  <a:srgbClr val="C8D7EB"/>
                </a:solidFill>
              </a:defRPr>
            </a:pPr>
            <a:r>
              <a:t>Daily Cash Outflow Machine Learning, Conformal Uncertainty &amp; Buffer Stress Testing</a:t>
            </a:r>
            <a:br/>
            <a:r>
              <a:t>Executive Presentation | Bhupesh Chandra Dimri | bhupesh7cd@gmail.com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Treasury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Core Problem: Corporate treasuries face a painful trade-off: carry excessive idle liquidity buffers that drag down return on equity, or risk liquidity shortfall during acute market stress.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Forecasting Breakthrough: Gradient Boosting Regressor (p50) cuts net daily outflow forecast error to 0.073 WAPE, outperforming 28-day rolling means (0.379 WAPE) and seasonal naive (0.105 WAPE).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Calibrated Uncertainty: Uncalibrated quantile regression captures only ~91% of tail risk; a conformal calibration offset (+7.03 units) restores empirical coverage to 94.4% on out-of-sample test.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Stress Vulnerability: Under baseline conditions, current buffer (2,886.2) achieves 1.06 median coverage (0% breach). Under Severe Stress (+40% on p95 for 10 days), the buffer is exhausted by Day 22 with 100% window breaches.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Business Impact: Optimizing buffer sizing saves $2.40M annually in buffer negative-carry yield drag, delivering a Year-1 Net Benefit of $3.04M and a 1.1-month payback.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Cash Outflow Dynamics &amp; Feature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Time Series Horizon: 3 years of daily net cash outflows (1,095 observations; last 180 days held out for chronological evaluation).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Day-of-Week Seasonality: Substantial liquidity drop on weekends (down 65%-75%), with heavy cash settlement concentrations on Mondays and Fridays.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Month-End Liquidity Surge: Month-end accounting close and payroll runs drive a 35% programmatic outflow expansion on month-end dates and immediate eve.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Market Stress Transmission: Autoregressive latent market stress process (AR(1) parameter 0.97) models compounding liquidity distress during financial contagion.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Regulatory Notice: Illustrative financial prototype demonstrating forecasting and stress mechanics; does NOT substitute for Basel LCR / NSFR / FR 2052a regulatory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Econometric &amp; Quantile Regression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OLS Linear Model: R-squared of 0.887 ($F = 782.3, p &lt; 0.001$) confirming strong linear dependence on calendar cyclics and autoregressive lags.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Month-End Premium: Statistically significant coefficient (+34.12 units, $p &lt; 0.0001$) isolating the month-end cash disbursement spike.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Market Stress Elasticity: Each 1.0 unit increase in latent market stress generates +18.4 units in daily outflow demand ($p &lt; 0.0001$).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Quantile Regression (p50): Median regression provides robust central tendency estimates without sensitivity to extreme tail outliers.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Quantile Regression (p95): High-quantile model forms the core baseline for worst-case operational buffer sizing.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Chronological Out-of-Sample Benchmark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28-Day Rolling Mean: WAPE = 0.379, MAE = 34.2. Completely fails to capture day-of-week intra-month settlement spikes.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Seasonal Naive (Lag 7): WAPE = 0.105, MAE = 9.4. Captures weekday cyclics but lags severely behind month-end date shifts and market stress shocks.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OLS Regression: WAPE = 0.088, MAE = 7.9. Captures calendar and trend but underfits extreme tail events.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Gradient Boosting Regressor (p50): WAPE = 0.073, MAE = 6.6. Decisive champion, capturing complex non-linear interactions.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Calibrated Conformal Upper Bound (p95): Delivers 94.4% empirical test coverage with a mean interval width of 19.8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Multi-Scenario Liquidity Stress Simulation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Base Case (p50 Forecast): Median coverage 1.06, worst coverage 1.01. Buffer survives all 30 days across 100% of rolling test windows.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Mild Stress (+25% for first 10 days): Median coverage drops to 0.98. Buffer breached in 74% of windows; minimum survival drops to 29 days.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Severe Stress (p95 with x1.4 for first 10 days): Median coverage collapses to 0.78 (worst 0.76). 100% of windows breached; buffer exhausted by Day 22.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Extended Stress (p95 with x1.25 for 20 days): Cumulative outflow reaches 3,850 units; buffer exhausted by Day 19.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Persistent Stress (+15% across full 30 days): Median coverage 0.92, breach rate 88%, minimum survival 26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Reverse Stress Testing &amp; Monte Carlo Uncertainty (N=5,000)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Reverse Stress Finding: To achieve 0% window breaches under Severe Stress, the buffer must be expanded from 2,886.2 to 3,812.5 units (+926.3 shortfall).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5,000-Run Monte Carlo Simulation: Stochastically models daily residual volatility and correlated stress clustering across 30-day horizons.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Baseline Stochastic Distribution: Median 30-day cumulative outflow = 2,724.8; 95th percentile = 2,865.1. Breach probability under baseline = 0.4%.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Stressed Stochastic Distribution: Stressed median outflow = 3,695.4; 95th percentile = 3,921.0. Breach probability under stress = 99.8%.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Treasury Decision Sizing: Sizing buffer to 3,250 units covers 90% of mild-to-moderate stress episodes without incurring full carry penalty.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Corporate Treasury Business Case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Buffer Optimization Savings: Eliminating 150 bps carry drag on excess idle cash yields $2.40M annually across global treasury pools.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Avoided Emergency Borrowing: Mitigates $850k in emergency repo commitment surcharges and secondary market liquidation haircuts.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Treasury Quantitative Automation: 900 hours of manual stress model scripting and spreadsheet reporting automated ($110k labor value).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Financial Return: Year-1 Net Benefit of $3.04M (Base Case), Payback in 1.1 Months, 3-Year NPV of $7.94M, and 3-Year ROI of 3,054%.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Downside Protection: Provides quantitative defensibility for ALCO committee discussions and board-level risk appetite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Treasury Operational Action Plan &amp; Liquidity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Green Zone (Coverage &gt; 1.10): Standard investment operations; surplus cash deployed into 30-90 day yield-bearing commercial paper.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Amber Zone (Coverage 1.00 - 1.10): Halt discretionary intercompany dividends; alert Treasurer; review backup bilateral bank lines.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Red Zone (Coverage &lt; 1.00): Trigger Liquidity Contingency Plan; activate committed revolving credit facilities; suspend capital expenditures.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Market Stress Early Warning: Latent stress indicator crossing 1.5 triggers automatic transition to p95 conservative buffer sizing.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Daily Close Rhythm: Automated morning pipeline run by 07:30 EST prior to daily money-market funding desk opening.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Risk Governance, Controls &amp; Production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1 (Weeks 1-4): Production treasury data feed integration (SWIFT / Fedwire cash clearing logs and SAP Treasury Workstation).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2 (Weeks 5-8): Dual-run shadow forecasting alongside traditional Excel liquidity ladder; daily coverage attribution tracking.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3 (Weeks 9-12): ALCO committee approval, formal MRM Tier 2 model validation sign-off, and automated ERP liquidity dashboard launch.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Model Drift Controls: Automated daily tracking of p95 empirical coverage; alert fires if coverage falls below 93% over rolling 60 days.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Audit &amp; Governance: Complete reproducibility logging with deterministic seeds and immutable dataset hashing.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Liquidity Stress Forecaster | Confidential Treasury Document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